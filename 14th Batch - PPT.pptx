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5B_74FA117C.xml" ContentType="application/vnd.ms-powerpoint.comments+xml"/>
  <Override PartName="/ppt/notesSlides/notesSlide1.xml" ContentType="application/vnd.openxmlformats-officedocument.presentationml.notesSlide+xml"/>
  <Override PartName="/ppt/comments/modernComment_1B8_A9473936.xml" ContentType="application/vnd.ms-powerpoint.comments+xml"/>
  <Override PartName="/ppt/comments/modernComment_1B9_A260506E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BC_F9F84BCA.xml" ContentType="application/vnd.ms-powerpoint.comments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7" r:id="rId5"/>
    <p:sldId id="335" r:id="rId6"/>
    <p:sldId id="367" r:id="rId7"/>
    <p:sldId id="434" r:id="rId8"/>
    <p:sldId id="435" r:id="rId9"/>
    <p:sldId id="451" r:id="rId10"/>
    <p:sldId id="436" r:id="rId11"/>
    <p:sldId id="347" r:id="rId12"/>
    <p:sldId id="437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351" r:id="rId26"/>
    <p:sldId id="438" r:id="rId27"/>
    <p:sldId id="3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060D9A-AB04-5626-A7B8-AC260983BA99}" name="R Adhithya - [CB.EN.U4ELC24028]" initials="R[" userId="S::cb.en.u4elc24028@cb.students.amrita.edu::0065da43-dc09-4b0b-8dae-5017122a2b5f" providerId="AD"/>
  <p188:author id="{5259069D-D660-DE3A-76CF-356BDDE6DE2F}" name="Thoshan Raja" initials="TR" userId="81dfd512227524e3" providerId="Windows Live"/>
  <p188:author id="{147B73E4-083E-4853-1EA2-1F583CEE6A14}" name="Hemanth Arunagiri Kala - [CB.EN.U4ELC24054]" initials="H[" userId="S::cb.en.u4elc24054@cb.students.amrita.edu::f047646e-0b29-4c15-809a-22597ea1a47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4090F8-8449-4C25-8662-EA569B9CE7D9}" v="416" dt="2026-03-14T17:33:32.797"/>
    <p1510:client id="{FB302544-7C06-C1D5-AD11-2C48E27F84F8}" v="675" dt="2026-03-14T18:33:50.890"/>
    <p1510:client id="{FDEE0BE4-AD06-A404-7C4D-4E206314CBB6}" v="304" dt="2026-03-14T18:22:34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07" autoAdjust="0"/>
    <p:restoredTop sz="94660"/>
  </p:normalViewPr>
  <p:slideViewPr>
    <p:cSldViewPr snapToGrid="0">
      <p:cViewPr varScale="1">
        <p:scale>
          <a:sx n="73" d="100"/>
          <a:sy n="73" d="100"/>
        </p:scale>
        <p:origin x="4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omments/modernComment_1B8_A94739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3B9B53-278C-4B49-8CA3-9F28631C8862}" authorId="{147B73E4-083E-4853-1EA2-1F583CEE6A14}" created="2026-03-14T17:23:00.432">
    <pc:sldMkLst xmlns:pc="http://schemas.microsoft.com/office/powerpoint/2013/main/command">
      <pc:docMk/>
      <pc:sldMk cId="2840017206" sldId="440"/>
    </pc:sldMkLst>
    <p188:replyLst>
      <p188:reply id="{F8506120-8FAE-4674-8871-D5812E3AC2AC}" authorId="{4C060D9A-AB04-5626-A7B8-AC260983BA99}" created="2026-03-14T17:49:32.232">
        <p188:txBody>
          <a:bodyPr/>
          <a:lstStyle/>
          <a:p>
            <a:r>
              <a:rPr lang="en-US"/>
              <a:t>lets just keep the images in a separate slide. we will just flash them the images
[@RAJA THOSHAN R D KARTHIKEYA - [CB.EN.U4ELC24029]]  [@Hemanth Arunagiri Kala - [CB.EN.U4ELC24054]] </a:t>
            </a:r>
          </a:p>
        </p188:txBody>
      </p188:reply>
    </p188:replyLst>
    <p188:txBody>
      <a:bodyPr/>
      <a:lstStyle/>
      <a:p>
        <a:r>
          <a:rPr lang="en-US"/>
          <a:t>Keep the table in a separate slide or both table and graph in the same slide?</a:t>
        </a:r>
      </a:p>
    </p188:txBody>
  </p188:cm>
</p188:cmLst>
</file>

<file path=ppt/comments/modernComment_1B9_A26050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2226B3-6FCD-496A-938C-CB4FA2F2375A}" authorId="{147B73E4-083E-4853-1EA2-1F583CEE6A14}" created="2026-03-14T17:23:36">
    <pc:sldMkLst xmlns:pc="http://schemas.microsoft.com/office/powerpoint/2013/main/command">
      <pc:docMk/>
      <pc:sldMk cId="2724221038" sldId="441"/>
    </pc:sldMkLst>
    <p188:txBody>
      <a:bodyPr/>
      <a:lstStyle/>
      <a:p>
        <a:r>
          <a:rPr lang="en-US"/>
          <a:t>Slide in question</a:t>
        </a:r>
      </a:p>
    </p188:txBody>
  </p188:cm>
</p188:cmLst>
</file>

<file path=ppt/comments/modernComment_1BC_F9F84B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FDCCC2-B7B9-435B-91EA-8A5076770041}" authorId="{147B73E4-083E-4853-1EA2-1F583CEE6A14}" created="2026-03-14T17:33:11.0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93799114" sldId="444"/>
      <ac:picMk id="4" creationId="{8B9442EB-0617-BCE1-A00C-14BBC040D135}"/>
    </ac:deMkLst>
    <p188:replyLst>
      <p188:reply id="{74F7C5DD-C33E-49EF-A665-9341AFDAB4F1}" authorId="{4C060D9A-AB04-5626-A7B8-AC260983BA99}" created="2026-03-14T17:49:54.825">
        <p188:txBody>
          <a:bodyPr/>
          <a:lstStyle/>
          <a:p>
            <a:r>
              <a:rPr lang="en-US"/>
              <a:t>same as above mentioned [@RAJA THOSHAN R D KARTHIKEYA - [CB.EN.U4ELC24029]] </a:t>
            </a:r>
          </a:p>
        </p188:txBody>
      </p188:reply>
    </p188:replyLst>
    <p188:txBody>
      <a:bodyPr/>
      <a:lstStyle/>
      <a:p>
        <a:r>
          <a:rPr lang="en-US"/>
          <a:t>Again, two images in the same slide or different?</a:t>
        </a:r>
      </a:p>
    </p188:txBody>
  </p188:cm>
</p188:cmLst>
</file>

<file path=ppt/comments/modernComment_15B_74FA11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D29F34-876D-4D3A-B6EE-6B0F0C94C661}" authorId="{4C060D9A-AB04-5626-A7B8-AC260983BA99}" created="2026-03-14T18:15:26.856">
    <pc:sldMkLst xmlns:pc="http://schemas.microsoft.com/office/powerpoint/2013/main/command">
      <pc:docMk/>
      <pc:sldMk cId="1962545532" sldId="347"/>
    </pc:sldMkLst>
    <p188:replyLst>
      <p188:reply id="{57BCB7B5-D820-436C-ABDB-066523272163}" authorId="{5259069D-D660-DE3A-76CF-356BDDE6DE2F}" created="2026-03-14T18:38:42.117">
        <p188:txBody>
          <a:bodyPr/>
          <a:lstStyle/>
          <a:p>
            <a:r>
              <a:rPr lang="en-IN"/>
              <a:t>What hppened
</a:t>
            </a:r>
          </a:p>
        </p188:txBody>
      </p188:reply>
    </p188:replyLst>
    <p188:txBody>
      <a:bodyPr/>
      <a:lstStyle/>
      <a:p>
        <a:r>
          <a:rPr lang="en-US"/>
          <a:t>thosh check karo that related works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0DE3B-BAB1-46B7-95C8-AE24B5D2272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7A453-73E7-426E-95C7-2E443AF11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9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better, to keep it </a:t>
            </a:r>
            <a:r>
              <a:rPr lang="en-US" dirty="0" err="1"/>
              <a:t>seperate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A453-73E7-426E-95C7-2E443AF11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1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3668-F066-A688-2051-18F16DB4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086B6-F290-8604-3F8E-860EED11A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18E96-3F94-D226-25A7-AB93E7FC7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better, to keep it </a:t>
            </a:r>
            <a:r>
              <a:rPr lang="en-US" dirty="0" err="1"/>
              <a:t>seperate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0CE19-BA1B-A8C4-91F5-C111FF393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A453-73E7-426E-95C7-2E443AF115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36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BEB4-C60E-83E2-059B-FEA2D1E8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75E17-07AF-F6DC-1666-131D78E52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34585-DE4A-970E-BF37-C02B701A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better, to keep it </a:t>
            </a:r>
            <a:r>
              <a:rPr lang="en-US" dirty="0" err="1"/>
              <a:t>seperate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74BA2-02E5-C920-CFD2-A4D681040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A453-73E7-426E-95C7-2E443AF115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74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15462-B116-468B-E907-E084725C8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C7B31-2CFE-E846-9E28-B1B8A9E31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91CF7-0308-A980-0519-CBBFB2A20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better, to keep it </a:t>
            </a:r>
            <a:r>
              <a:rPr lang="en-US" dirty="0" err="1"/>
              <a:t>seperate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32C44-8E4F-BE0B-622D-514921ABC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A453-73E7-426E-95C7-2E443AF115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2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2945-0DC7-C809-6015-5F86A6FE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21FDD-8005-3098-EA71-EB57E7CC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5137D-4E96-D856-E0BC-992204DC4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better, to keep it </a:t>
            </a:r>
            <a:r>
              <a:rPr lang="en-US" dirty="0" err="1"/>
              <a:t>seperate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153AC-1A10-599C-3F01-939F068B0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A453-73E7-426E-95C7-2E443AF115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72E3-125B-5C25-83D8-721BB7E48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65117-165C-537A-9940-8B3D6F5B8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CB9F-6A39-3D76-FEE3-0B90D101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231C7-F1ED-CC06-EDA5-FCA7EA83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75141-3395-D605-5E56-7E865812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60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930D-B6A5-25F2-8AA9-FFFA64C4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AD67-68C4-19B0-D47B-B3615DF64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588C-C536-8CAB-20EF-C962B22B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9101-0C5F-7626-D20D-52669F02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2438F-1F87-7137-73DF-F1E2F84F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1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2001-C3A4-BD1A-70DB-8CF6CDD6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9533C-7075-1CE6-0971-68219412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69F4-3323-2DDC-CA09-1A6D7FC3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1DD7-3E7F-E297-0687-5807D253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3E29C-921F-F35C-CB09-B5A71D9A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1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81EE-4DCC-AAC3-008E-E40FF658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0C57-5A4F-7C0F-7322-D0EFFE4E8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C3BA0-FF92-49E3-B09A-4FB925A90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9EC7-43A4-B4D6-12A8-859214EC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CD57C-D9C3-9F8A-B16F-1975A155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FFD89-A714-3AC2-C7A1-AA902157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0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9F9D-9F96-C772-5C0F-6E4C73A5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0212-D51D-0E76-0F03-A94C362E0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7A292-5C49-A5F8-2E56-3B1188C61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D6DCA-B09B-6F45-1C53-B5EC382D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71BBE-C81B-DDF2-0789-26B3D9191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FAAC7-0801-8267-D6F7-824BFFC6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7AB6F-F157-4BC9-5E85-F5061970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D7EFA-D1CA-A431-B8F6-9AF8A1F4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6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8CA9-DF24-37F5-AE97-A095FEEE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AD190-D914-3E15-2828-5373D8BE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1C97-37E4-5CE2-E69E-CE288762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11A78-35A0-2D62-DF59-91488352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2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4B491-0C75-3904-4ADF-F0EE1B2D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975F4-559A-FCD1-6032-09F60971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C50BE-572B-54AE-DC11-7DE3844D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60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F67E-1F08-2D89-3C2F-4EE94F3B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DB34-31E4-F298-B652-354C839BE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7E576-2F00-367A-0992-A821F612E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B311B-8413-3CDE-36E1-645676E5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26DA7-CDEE-9115-7B52-106BA392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EC7D9-328C-CED4-2283-DC77BC24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1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BE36-BBAE-8E8B-828F-3637ADA3C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378647-B0A0-6B5A-3A80-94F025C91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501C9-0A26-76CB-720E-6819A5611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8D11B-F9B3-C446-E553-F598C2F3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42AB-E93E-E2C2-4A41-5772E17D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57638-8FF6-EA2A-9561-24CD68C1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1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8DEE-7E7B-B169-A5B0-85B36C74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DC642-B815-15C4-B461-638A0B09B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61C11-D9A7-CA61-9CFB-A0F2B939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BE631-40EA-85A5-F7FF-A5B3E8460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F9AF5-9D5F-1C02-828C-F9E9AA7B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E5440-8F1F-D75E-F718-FCEBE05A0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3E4EC-1D51-856A-B27A-316CC39B6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1777-7CC2-69CF-8290-55C0C2CF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A872-B07D-8828-A298-50A8870B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3E1D2-FC66-8E2F-600E-7709E5E2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4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AB4BD-1F8B-1AE6-D533-D490900C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1F8EA-F314-F47E-67AB-D757A52DB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F74B4-49BD-EB4E-E348-E2AAAC043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AB123-623B-42B3-93EF-51870B7A0BC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3D0B-47EF-58BB-6203-B477B6D38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794AF-13C6-1C07-0049-86C9AB8DC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EB5B2-F94E-4AA5-8555-44DB31358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5B_74FA117C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8_A947393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B9_A260506E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C_F9F84BCA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F5320C-948D-DBE4-D710-11375D3113C8}"/>
              </a:ext>
            </a:extLst>
          </p:cNvPr>
          <p:cNvSpPr>
            <a:spLocks noGrp="1"/>
          </p:cNvSpPr>
          <p:nvPr/>
        </p:nvSpPr>
        <p:spPr>
          <a:xfrm>
            <a:off x="897188" y="624533"/>
            <a:ext cx="10515600" cy="788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False Data Injection Detection in IEC 60870-5-104 Smart Grids: A Comparative Study of Classical Machine Learning Classifiers Against Conformal Neural Networks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E23E7-1E48-B070-8F93-855FEFE2E49D}"/>
              </a:ext>
            </a:extLst>
          </p:cNvPr>
          <p:cNvSpPr txBox="1"/>
          <p:nvPr/>
        </p:nvSpPr>
        <p:spPr>
          <a:xfrm>
            <a:off x="4842381" y="1531651"/>
            <a:ext cx="2625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Image result for amrita university emblem">
            <a:extLst>
              <a:ext uri="{FF2B5EF4-FFF2-40B4-BE49-F238E27FC236}">
                <a16:creationId xmlns:a16="http://schemas.microsoft.com/office/drawing/2014/main" id="{90B23E7D-6F3E-D8C8-A0C3-1F838486E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14384" r="457" b="17389"/>
          <a:stretch/>
        </p:blipFill>
        <p:spPr bwMode="auto">
          <a:xfrm>
            <a:off x="4691587" y="5318066"/>
            <a:ext cx="2926803" cy="903969"/>
          </a:xfrm>
          <a:prstGeom prst="rect">
            <a:avLst/>
          </a:prstGeom>
          <a:noFill/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E8EA28-BE15-E22A-214C-B57E48BE6224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99EF8-0327-97AA-6DB3-3F8D785CAA7A}"/>
              </a:ext>
            </a:extLst>
          </p:cNvPr>
          <p:cNvSpPr txBox="1"/>
          <p:nvPr/>
        </p:nvSpPr>
        <p:spPr>
          <a:xfrm>
            <a:off x="4984959" y="3661077"/>
            <a:ext cx="2340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Batch: 2025- 2026 (Even Sem)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3C9FE-66C7-0A80-BC53-45A8E31040A8}"/>
              </a:ext>
            </a:extLst>
          </p:cNvPr>
          <p:cNvSpPr txBox="1"/>
          <p:nvPr/>
        </p:nvSpPr>
        <p:spPr>
          <a:xfrm>
            <a:off x="2563445" y="6158007"/>
            <a:ext cx="7183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Electronics Engineering, Amrita School of Engineering, Coimbatore</a:t>
            </a:r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DB06E8-2C70-E66F-99C7-EFA13903D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68591"/>
              </p:ext>
            </p:extLst>
          </p:nvPr>
        </p:nvGraphicFramePr>
        <p:xfrm>
          <a:off x="2090988" y="2043371"/>
          <a:ext cx="8128000" cy="1615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11362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7805037"/>
                    </a:ext>
                  </a:extLst>
                </a:gridCol>
              </a:tblGrid>
              <a:tr h="403908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CB.EN.U4ELC24028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R.Adhithya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513177"/>
                  </a:ext>
                </a:extLst>
              </a:tr>
              <a:tr h="403908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/>
                          <a:cs typeface="Times New Roman"/>
                        </a:rPr>
                        <a:t>CB.EN.U4ELC24029</a:t>
                      </a:r>
                      <a:endParaRPr lang="en-IN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Raja </a:t>
                      </a:r>
                      <a:r>
                        <a:rPr lang="en-US" sz="1600" dirty="0" err="1">
                          <a:latin typeface="Times New Roman"/>
                          <a:cs typeface="Times New Roman"/>
                        </a:rPr>
                        <a:t>Thoshan</a:t>
                      </a:r>
                      <a:endParaRPr lang="en-IN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705299"/>
                  </a:ext>
                </a:extLst>
              </a:tr>
              <a:tr h="403908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/>
                          <a:cs typeface="Times New Roman"/>
                        </a:rPr>
                        <a:t>CB.EN.U4ELC</a:t>
                      </a:r>
                      <a:r>
                        <a:rPr lang="en-GB" sz="1600" baseline="0">
                          <a:latin typeface="Times New Roman"/>
                          <a:cs typeface="Times New Roman"/>
                        </a:rPr>
                        <a:t>24054</a:t>
                      </a:r>
                      <a:endParaRPr lang="en-IN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Hemanth.A.K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873379"/>
                  </a:ext>
                </a:extLst>
              </a:tr>
              <a:tr h="403908">
                <a:tc>
                  <a:txBody>
                    <a:bodyPr/>
                    <a:lstStyle/>
                    <a:p>
                      <a:pPr algn="ctr"/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397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403B1-F007-7217-5E52-733528DB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7357" y="6457798"/>
            <a:ext cx="285750" cy="365125"/>
          </a:xfrm>
        </p:spPr>
        <p:txBody>
          <a:bodyPr/>
          <a:lstStyle/>
          <a:p>
            <a:fld id="{2CD5F0D1-546A-48F2-829D-71E5BA9AAFAC}" type="slidenum">
              <a:rPr lang="en-IN" sz="1600" b="1" smtClean="0"/>
              <a:t>1</a:t>
            </a:fld>
            <a:endParaRPr lang="en-IN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209A1-B5B1-01F7-4773-D40F61D88418}"/>
              </a:ext>
            </a:extLst>
          </p:cNvPr>
          <p:cNvSpPr txBox="1"/>
          <p:nvPr/>
        </p:nvSpPr>
        <p:spPr>
          <a:xfrm>
            <a:off x="2794930" y="3078587"/>
            <a:ext cx="672011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IN" b="1" i="1">
                <a:solidFill>
                  <a:srgbClr val="000000"/>
                </a:solidFill>
                <a:latin typeface="Times New Roman" panose="02020603050405020304" pitchFamily="18" charset="0"/>
              </a:rPr>
              <a:t>23ELC212–Machine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AB389-8147-43CE-89A4-E2CB8396522F}"/>
              </a:ext>
            </a:extLst>
          </p:cNvPr>
          <p:cNvSpPr txBox="1"/>
          <p:nvPr/>
        </p:nvSpPr>
        <p:spPr>
          <a:xfrm>
            <a:off x="3543868" y="4502063"/>
            <a:ext cx="522224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600" b="1" i="1">
                <a:latin typeface="Times New Roman"/>
                <a:cs typeface="Times New Roman"/>
              </a:rPr>
              <a:t>Supervised by</a:t>
            </a:r>
          </a:p>
          <a:p>
            <a:pPr algn="ctr"/>
            <a:r>
              <a:rPr lang="en-GB" sz="1600">
                <a:latin typeface="Times New Roman"/>
                <a:cs typeface="Times New Roman"/>
              </a:rPr>
              <a:t>Mr. Nakkeeran M</a:t>
            </a:r>
          </a:p>
          <a:p>
            <a:pPr algn="ctr"/>
            <a:r>
              <a:rPr lang="en-IN" sz="1600">
                <a:latin typeface="Times New Roman"/>
                <a:ea typeface="+mn-lt"/>
                <a:cs typeface="+mn-lt"/>
              </a:rPr>
              <a:t>Assistant</a:t>
            </a:r>
            <a:r>
              <a:rPr lang="en-IN" sz="1600">
                <a:latin typeface="Times New Roman"/>
                <a:cs typeface="Times New Roman"/>
              </a:rPr>
              <a:t> Professor - EEE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52258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072F-10C7-7ADE-C297-D13FF0E1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385766-0B71-855C-48AD-9BE07AFD4E83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92710-BB4E-647B-CCA6-DC69CA418455}"/>
              </a:ext>
            </a:extLst>
          </p:cNvPr>
          <p:cNvSpPr>
            <a:spLocks noGrp="1"/>
          </p:cNvSpPr>
          <p:nvPr/>
        </p:nvSpPr>
        <p:spPr>
          <a:xfrm>
            <a:off x="897193" y="630967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CONTENT</a:t>
            </a:r>
            <a:endParaRPr lang="en-US" sz="3600" b="1">
              <a:latin typeface="Times New Roman"/>
              <a:ea typeface="+mj-lt"/>
              <a:cs typeface="Calibri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868C55-A5E5-512A-219D-64058C03465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4DBD6725-D3DB-37C6-A69D-26E52D21A299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2</a:t>
            </a:fld>
            <a:endParaRPr lang="en-IN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E7AF8-C3AC-B589-31A1-05865F23CEA3}"/>
              </a:ext>
            </a:extLst>
          </p:cNvPr>
          <p:cNvSpPr txBox="1"/>
          <p:nvPr/>
        </p:nvSpPr>
        <p:spPr>
          <a:xfrm>
            <a:off x="707570" y="1394531"/>
            <a:ext cx="1077686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I.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     Introduction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Calibri"/>
                <a:cs typeface="Times New Roman"/>
              </a:rPr>
              <a:t>II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     Related Work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III.    Proposed Approach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IV.</a:t>
            </a: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    Methodology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V.</a:t>
            </a: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      Implementation</a:t>
            </a:r>
            <a:r>
              <a:rPr lang="en-US" sz="2000" dirty="0">
                <a:latin typeface="Times New Roman"/>
                <a:ea typeface="Calibri" panose="020F0502020204030204"/>
                <a:cs typeface="Times New Roman"/>
              </a:rPr>
              <a:t> Details</a:t>
            </a: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VI.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   Results and Discussion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000">
                <a:latin typeface="Times New Roman"/>
                <a:ea typeface="Calibri"/>
                <a:cs typeface="Times New Roman"/>
              </a:rPr>
              <a:t>VII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   Conclusion and Future Scopes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Calibri"/>
                <a:cs typeface="Times New Roman"/>
              </a:rPr>
              <a:t>              References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endParaRPr lang="en-US" sz="2000" b="1" dirty="0">
              <a:latin typeface="Times New Roman"/>
              <a:ea typeface="Calibri" panose="020F0502020204030204" pitchFamily="34" charset="0"/>
              <a:cs typeface="Times New Roman"/>
            </a:endParaRPr>
          </a:p>
          <a:p>
            <a:pPr marL="400050" indent="-400050">
              <a:spcAft>
                <a:spcPts val="600"/>
              </a:spcAft>
              <a:buFont typeface="Calibri Light" panose="020F0302020204030204"/>
              <a:buAutoNum type="romanUcPeriod"/>
            </a:pPr>
            <a:endParaRPr lang="en-US" sz="2000" dirty="0">
              <a:solidFill>
                <a:srgbClr val="000000"/>
              </a:solidFill>
              <a:latin typeface="Times New Roman"/>
              <a:ea typeface="Calibri" panose="020F0502020204030204" pitchFamily="34" charset="0"/>
              <a:cs typeface="Times New Roman"/>
            </a:endParaRPr>
          </a:p>
          <a:p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057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96FB-2396-0235-4DB5-6926AC11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3D6B21-C31F-B83A-D1FC-A78642B610DC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0DBDA-0A3E-536A-57C3-2F2F8EEFBCC8}"/>
              </a:ext>
            </a:extLst>
          </p:cNvPr>
          <p:cNvSpPr>
            <a:spLocks noGrp="1"/>
          </p:cNvSpPr>
          <p:nvPr/>
        </p:nvSpPr>
        <p:spPr>
          <a:xfrm>
            <a:off x="838200" y="589959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I. Introduction</a:t>
            </a:r>
            <a:endParaRPr lang="en-US" sz="3600" b="1" dirty="0">
              <a:latin typeface="Times New Roman"/>
              <a:ea typeface="+mj-lt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D605D-0420-D74A-4B7D-C05A9D6FBC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11008DC-C1F3-2835-28F9-9EAE411BD9E8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3</a:t>
            </a:fld>
            <a:endParaRPr lang="en-IN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DC0E3-8B0A-8F26-32B9-36D07100485C}"/>
              </a:ext>
            </a:extLst>
          </p:cNvPr>
          <p:cNvSpPr txBox="1"/>
          <p:nvPr/>
        </p:nvSpPr>
        <p:spPr>
          <a:xfrm>
            <a:off x="839555" y="1485054"/>
            <a:ext cx="10645986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Smart grids rely on IEC-104, a SCADA protocol for HMI-RTU communication over TCP/IP, but legacy ICS design prioritized reliability over security, leaving these protocols without authentication or encryption</a:t>
            </a:r>
          </a:p>
          <a:p>
            <a:pPr>
              <a:buFont typeface="Arial" panose="05000000000000000000" pitchFamily="2" charset="2"/>
              <a:buChar char="•"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This enables False Data Injection (FDI) attacks, fabricated control messages that can mislead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operators and trigger equipment damage or outages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While neural network detectors (e.g., Zheng et al.'s C-NN, accuracy 0.9738) show strong results, they lack the interpretability critical for industrial deployment, and most work is limited to binary classification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This study benchmarks nine classical ML classifiers against the C-NN across binary, 3-class, and 12-class attack identification tasks on the same dataset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123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B282-62E6-87B6-5649-11A47B4E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2272BB-7C8E-C67D-6DC7-97B07601DC11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87FF9-16D8-E0D6-0C63-02AB774FBC0A}"/>
              </a:ext>
            </a:extLst>
          </p:cNvPr>
          <p:cNvSpPr>
            <a:spLocks noGrp="1"/>
          </p:cNvSpPr>
          <p:nvPr/>
        </p:nvSpPr>
        <p:spPr>
          <a:xfrm>
            <a:off x="838200" y="512434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II. Related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9D9755-E96E-7FB7-1885-B96F0841E63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94ECE85-528B-18A1-552A-2A7D2E62B7AC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4</a:t>
            </a:fld>
            <a:endParaRPr lang="en-IN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D3ECB-C3E1-F446-11F7-C9D4F1CC235D}"/>
              </a:ext>
            </a:extLst>
          </p:cNvPr>
          <p:cNvSpPr txBox="1"/>
          <p:nvPr/>
        </p:nvSpPr>
        <p:spPr>
          <a:xfrm>
            <a:off x="867609" y="1276852"/>
            <a:ext cx="10574767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Machine Learning for Intrusion Detection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Ensemble and tree-based methods (Gradient Boosting, Random Forest) consistently match deep learning accuracy on IoT/industrial NIDS tasks at a fraction of the computational cost, while distance-based methods like KNN degrade in high-dimensional, correlated feature spaces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ICS/SCADA Security and IEC-104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Times New Roman"/>
                <a:ea typeface="+mn-lt"/>
                <a:cs typeface="Times New Roman"/>
              </a:rPr>
              <a:t>Radoglou-Grammatikis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et al. established the IEC-104 benchmark dataset spanning eleven attack categories; Kleinmann and Wool showed that parsing the COT field enables precise command-type distinction, justifying protocol-aware feature extraction over generic TCP/IP statistics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Zheng et al.'s C-NN integrates conformity scoring with neural boundary learning (accuracy 0.9738), though its conservative uncertainty quantification can suppress raw detection performance relative to standard discriminative models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Ensemble Methods and Conformal Prediction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Gradient Boosting and Random Forest dominate cybersecurity benchmarks due to variance reduction and overfitting resistance; AdaBoost performs well in binary settings but weakens under multi-class overlap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Conformal prediction improves interpretability via guaranteed-coverage prediction sets, but introduces a recall trade-off — gaining uncertainty quantification at the cost of detection sensitivity</a:t>
            </a:r>
            <a:endParaRPr lang="en-US">
              <a:latin typeface="Times New Roman"/>
              <a:cs typeface="Times New Roman"/>
            </a:endParaRPr>
          </a:p>
          <a:p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301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098F-70F0-EE54-D5DD-49073AF9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193EF0-D9F6-88C6-D430-CA9CAD53934C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F3D0D-941F-A57E-AB15-E27217251B98}"/>
              </a:ext>
            </a:extLst>
          </p:cNvPr>
          <p:cNvSpPr>
            <a:spLocks noGrp="1"/>
          </p:cNvSpPr>
          <p:nvPr/>
        </p:nvSpPr>
        <p:spPr>
          <a:xfrm>
            <a:off x="838200" y="630967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/>
                <a:ea typeface="+mj-lt"/>
                <a:cs typeface="Times New Roman"/>
              </a:rPr>
              <a:t>II. Related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D3F3E-9761-7B79-C577-592868589C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4C5F31A-388C-6A37-A4A7-27659D9006EE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5</a:t>
            </a:fld>
            <a:endParaRPr lang="en-IN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307F68-EB41-5AAA-ECE5-2A3526568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200377"/>
              </p:ext>
            </p:extLst>
          </p:nvPr>
        </p:nvGraphicFramePr>
        <p:xfrm>
          <a:off x="838200" y="2383252"/>
          <a:ext cx="10515600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197820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0191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Gap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Description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22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Benchmarking Inconsistency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direct comparison between classical ML classifiers and C-NN using a unified IEC-104 parser feature set and identical data splits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443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Granularity Scalability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comprehensive evaluation simultaneously addressing binary, 3-class, and 12-class classification on the IEC-104 dataset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997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Performance Quantification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Quantitative degradation of performance as attack granularity increases remains unmeasured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194244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5E43C734-BBED-8B01-3AFA-5DFDBE630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" y="1831487"/>
            <a:ext cx="14863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Gap Analysis</a:t>
            </a: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267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624C-FC59-66D0-6E07-6F5172DA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CDE115-0AB9-CD34-011E-75A72C0AAD22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80DEC-E1FB-7BB5-EFEB-E3F186DF04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DBDCC5A-6075-10B0-9E5D-8E92A500F16A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6</a:t>
            </a:fld>
            <a:endParaRPr lang="en-IN" b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DC4A2C-DB03-2D11-9864-905AA1D507A7}"/>
              </a:ext>
            </a:extLst>
          </p:cNvPr>
          <p:cNvSpPr>
            <a:spLocks noGrp="1"/>
          </p:cNvSpPr>
          <p:nvPr/>
        </p:nvSpPr>
        <p:spPr>
          <a:xfrm>
            <a:off x="555629" y="668203"/>
            <a:ext cx="11080741" cy="573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III. Proposed Approach - 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System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ECE5C-09D4-90CB-D489-03C597F28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41" y="1678148"/>
            <a:ext cx="6675928" cy="3641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FA1ED3-89CC-12CA-C56A-B8C7B06CB6DC}"/>
              </a:ext>
            </a:extLst>
          </p:cNvPr>
          <p:cNvSpPr txBox="1"/>
          <p:nvPr/>
        </p:nvSpPr>
        <p:spPr>
          <a:xfrm>
            <a:off x="7415001" y="1301119"/>
            <a:ext cx="4341334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Dataset Details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Protocol: IEC 60870-5-104 (Port 2404)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Feature Extractor: IEC-104 Parser custom script decoding protocol-level payload fields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Original Columns: 112 (111 features + Label)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After Preprocessing: 90 features (21 zero-variance columns removed)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Training Rows: 5,904 (492 per class × 12 classes)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Test Rows: 2,520 (210 per class × 12 classes)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Class Balance: Perfectly balanced, same as base paper setup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Missing Values: Zero, filled with column median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Flow Timeout: 60 seconds</a:t>
            </a:r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187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6363-F9A0-A2BD-FC62-914EB5D9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2B68E7-1DD6-C24A-9448-39AC347944EE}"/>
              </a:ext>
            </a:extLst>
          </p:cNvPr>
          <p:cNvSpPr/>
          <p:nvPr/>
        </p:nvSpPr>
        <p:spPr>
          <a:xfrm>
            <a:off x="432619" y="376980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87959-D2AB-0640-873F-509A2538A981}"/>
              </a:ext>
            </a:extLst>
          </p:cNvPr>
          <p:cNvSpPr>
            <a:spLocks noGrp="1"/>
          </p:cNvSpPr>
          <p:nvPr/>
        </p:nvSpPr>
        <p:spPr>
          <a:xfrm>
            <a:off x="838200" y="630967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/>
                <a:ea typeface="+mj-lt"/>
                <a:cs typeface="Times New Roman"/>
              </a:rPr>
              <a:t>III. Proposed Approach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65366-1257-91B9-F207-C13B519DE7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E185A8A-6A0D-2BE3-0164-738260B8E34E}"/>
              </a:ext>
            </a:extLst>
          </p:cNvPr>
          <p:cNvSpPr txBox="1">
            <a:spLocks/>
          </p:cNvSpPr>
          <p:nvPr/>
        </p:nvSpPr>
        <p:spPr>
          <a:xfrm>
            <a:off x="11877357" y="6448273"/>
            <a:ext cx="285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7</a:t>
            </a:fld>
            <a:endParaRPr lang="en-IN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58431-BB9C-4A95-9AF7-EAEDB14A9A47}"/>
              </a:ext>
            </a:extLst>
          </p:cNvPr>
          <p:cNvSpPr txBox="1"/>
          <p:nvPr/>
        </p:nvSpPr>
        <p:spPr>
          <a:xfrm>
            <a:off x="842209" y="1395386"/>
            <a:ext cx="10574767" cy="46782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Dataset Feature Categories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Flow statistics: packet counts, byte rates, and inter-arrival times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APDU characteristics: application protocol data unit length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IEC-104 message counts: I-Message, S-Message, and U-Message packets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TCP flag features: ACK and PSH flags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Protocol-specific fields: Cause of Transmission (COT) codes and Type IDs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Research Approach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A quantitative experimental approach using supervised learning was adopted, models trained on real data to learn underlying patterns of normal vs attack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Three classification levels of increasing complexity were evaluated: Binary (Normal vs Malicious), Grouped 3-Class (Normal / Injection / DoS), and Full 12-Class (all 12 individual attack types)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Training models across increasing complexity levels tests how performance changes as the task becomes harder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3420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1314-D129-353F-B7A0-6D1E4A97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8D0212-AFB7-BA48-A51B-690D30C2131A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73215-BE2A-1937-110B-2C1288E65DF3}"/>
              </a:ext>
            </a:extLst>
          </p:cNvPr>
          <p:cNvSpPr>
            <a:spLocks noGrp="1"/>
          </p:cNvSpPr>
          <p:nvPr/>
        </p:nvSpPr>
        <p:spPr>
          <a:xfrm>
            <a:off x="838200" y="337659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IV.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849B7-9126-5AA8-D151-B7E0B48E419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0862FB3-002D-55AE-832E-D301C40051D9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8</a:t>
            </a:fld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D06B9-4EF6-8606-072E-EAB8C4640102}"/>
              </a:ext>
            </a:extLst>
          </p:cNvPr>
          <p:cNvSpPr txBox="1"/>
          <p:nvPr/>
        </p:nvSpPr>
        <p:spPr>
          <a:xfrm>
            <a:off x="530624" y="1075478"/>
            <a:ext cx="11232353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Nine classical ML classifiers were evaluated, each with a different learning mechanism Logistic Regression: draws a linear decision boundary between classes, simple, interpretable, and computationally efficient 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K-Nearest Neighbors (KNN): classifies each sample based on the majority class among its k nearest neighbors using Euclidean distance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Support Vector Machine (SVM): uses a radial basis function kernel to capture complex, nonlinear class boundaries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Decision Tree: recursively splits data using Gini impurity, produces interpretable rule-based decisions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Random Forest: builds multiple trees on random feature subsets and aggregates their votes, reduces overfitting and improves accuracy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AdaBoost: sequentially combines weak classifiers, each learning from the mistakes of the previous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Gradient Boosting: frames sequential learning as gradient descent, each iteration corrects residual errors of the previous model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Naive Bayes: probabilistic classifier using Gaussian distributions, assumes feature independence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Multi-Layer Perceptron (MLP): two hidden layers with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ReLU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activation, included to benchmark a neural approach against classical models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25455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FFA4-C213-E896-5721-DCDF76F7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5C3BCC-5F21-9593-1E82-3D53FBE61193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62C06-ACA2-86BF-6C47-C4604DFD4BD7}"/>
              </a:ext>
            </a:extLst>
          </p:cNvPr>
          <p:cNvSpPr>
            <a:spLocks noGrp="1"/>
          </p:cNvSpPr>
          <p:nvPr/>
        </p:nvSpPr>
        <p:spPr>
          <a:xfrm>
            <a:off x="838200" y="39020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IV.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5C137A-1A9D-DD1D-A784-6F7A611E23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BC20B26-8CF9-6638-8747-2C74C8809ED2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9</a:t>
            </a:fld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486AC-8ECB-4004-095D-070887FC60D0}"/>
              </a:ext>
            </a:extLst>
          </p:cNvPr>
          <p:cNvSpPr txBox="1"/>
          <p:nvPr/>
        </p:nvSpPr>
        <p:spPr>
          <a:xfrm>
            <a:off x="708424" y="1363345"/>
            <a:ext cx="10775153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Five metrics were </a:t>
            </a:r>
            <a:r>
              <a:rPr lang="en-US" sz="2200">
                <a:latin typeface="Times New Roman"/>
                <a:cs typeface="Times New Roman"/>
              </a:rPr>
              <a:t>used, four</a:t>
            </a:r>
            <a:r>
              <a:rPr lang="en-US" sz="2200" dirty="0">
                <a:latin typeface="Times New Roman"/>
                <a:cs typeface="Times New Roman"/>
              </a:rPr>
              <a:t> matching the base paper for direct comparison, plus MCC for robustness </a:t>
            </a:r>
            <a:endParaRPr lang="en-US" sz="22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Accuracy: overall fraction of correct predictions - (TP + TN) / (TP + FP + TN + FN) 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Sensitivity (Recall): attack detection rate - most critical metric for IDS since missing an attack can be catastrophic 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Specificity: normal traffic recognition rate - indicates false alarm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F1-Score: harmonic mean of precision and recall - balances both error types 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Matthews Correlation Coefficient (MCC): correlation-based metric robust to class imbalance — 0 = random, 1 = perfect 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For multi-class tasks, sensitivity and F1 were computed as macro-averaged values to ensure no class is biased over others</a:t>
            </a:r>
            <a:endParaRPr lang="en-US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412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6CD0-D32D-AA14-8936-BDCBF18F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D4D048-E6AC-5AFB-2556-02E17948C68C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C7EF7-C4E7-A2E6-BD02-A148916C5BF3}"/>
              </a:ext>
            </a:extLst>
          </p:cNvPr>
          <p:cNvSpPr>
            <a:spLocks noGrp="1"/>
          </p:cNvSpPr>
          <p:nvPr/>
        </p:nvSpPr>
        <p:spPr>
          <a:xfrm>
            <a:off x="838200" y="39020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AE16D3-F9CC-DF16-DAAF-E41F0A39AB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4171FE5-8F91-DD5F-33E5-2F1884C8B76A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10</a:t>
            </a:fld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82D8E-EDF6-22A3-A6C1-1B19AB28A558}"/>
              </a:ext>
            </a:extLst>
          </p:cNvPr>
          <p:cNvSpPr txBox="1"/>
          <p:nvPr/>
        </p:nvSpPr>
        <p:spPr>
          <a:xfrm>
            <a:off x="838199" y="1151678"/>
            <a:ext cx="10769601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Results - Experimental Setup &amp; Preprocessing: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All experiments implemented in Python 3.12 on Visual Studio Code (CPU runtime) using scikit-learn 1.4, pandas, </a:t>
            </a:r>
            <a:r>
              <a:rPr lang="en-US" sz="2000" dirty="0" err="1">
                <a:latin typeface="Times New Roman"/>
                <a:cs typeface="Times New Roman"/>
              </a:rPr>
              <a:t>numpy</a:t>
            </a:r>
            <a:r>
              <a:rPr lang="en-US" sz="2000" dirty="0">
                <a:latin typeface="Times New Roman"/>
                <a:cs typeface="Times New Roman"/>
              </a:rPr>
              <a:t>, matplotlib, and seaborn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RANDOM_STATE = 42 fixed globally for all stochastic operations 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Train/test split was pre-provided by dataset creators, 492 training and 210 test samples per class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Preprocessing addressed four issues: column name whitespace stripped, duplicate rows removed, infinite values replaced with </a:t>
            </a:r>
            <a:r>
              <a:rPr lang="en-US" sz="2000" dirty="0" err="1">
                <a:latin typeface="Times New Roman"/>
                <a:cs typeface="Times New Roman"/>
              </a:rPr>
              <a:t>NaN</a:t>
            </a:r>
            <a:r>
              <a:rPr lang="en-US" sz="2000" dirty="0">
                <a:latin typeface="Times New Roman"/>
                <a:cs typeface="Times New Roman"/>
              </a:rPr>
              <a:t>, missing values filled with column median (train-fit only)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SMOTE was not applied as the dataset is perfectly balanced (492 samples per class), applying it would introduce false data representation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Two-level hyperparameter tuning: optimal k for Stratified K-Fold selected per task, then </a:t>
            </a:r>
            <a:r>
              <a:rPr lang="en-US" sz="2000" dirty="0" err="1">
                <a:latin typeface="Times New Roman"/>
                <a:cs typeface="Times New Roman"/>
              </a:rPr>
              <a:t>RandomizedSearchCV</a:t>
            </a:r>
            <a:r>
              <a:rPr lang="en-US" sz="2000" dirty="0">
                <a:latin typeface="Times New Roman"/>
                <a:cs typeface="Times New Roman"/>
              </a:rPr>
              <a:t> explored 14 random combinations per model scored by F1 Macro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931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8D70-8F79-C35B-C330-ECECFFCD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72BB9A-DD86-F3CD-3ACB-BFD2449FED8C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02A58-52BF-77F4-1661-2B8CA8EC82F6}"/>
              </a:ext>
            </a:extLst>
          </p:cNvPr>
          <p:cNvSpPr>
            <a:spLocks noGrp="1"/>
          </p:cNvSpPr>
          <p:nvPr/>
        </p:nvSpPr>
        <p:spPr>
          <a:xfrm>
            <a:off x="838200" y="39020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BB6FE-9C6A-F224-AABE-AFC0238C4A4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D44783A-5C65-E48B-B5BC-0385E95D15CC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11</a:t>
            </a:fld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A3498-83EB-8640-58D0-26BFE1785F29}"/>
              </a:ext>
            </a:extLst>
          </p:cNvPr>
          <p:cNvSpPr txBox="1"/>
          <p:nvPr/>
        </p:nvSpPr>
        <p:spPr>
          <a:xfrm>
            <a:off x="976286" y="1157514"/>
            <a:ext cx="10377514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Results - Experiment 1: Binary Classification (Normal vs Attack)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All 11 attack types merged into a single ATTACK class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Best K = 3 for cross-validation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Four models — Logistic Regression, KNN, SVM, and Random Forest — achieved perfect 1.0000 across all metrics including CV F1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MLP achieved 0.9996 test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All nine classical models significantly outperformed the paper C-NN benchmark (accuracy: 0.9738, F1: 0.9557)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Near-perfect results confirm that IEC-104 parser features provide sufficient information to distinguish any attack from normal traffic at binary level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K-Fold validation independently confirms results — ruling out any data leakage concerns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49467C-830E-9DCD-8EE6-B7939ACBE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1" y="2945912"/>
            <a:ext cx="6479330" cy="2546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A12FEC-079D-AA95-8F3D-F5A462E5D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1" y="2757952"/>
            <a:ext cx="4226438" cy="300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172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F4E4-C7AF-CB41-5EE5-A5D076E9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712CB3-A285-F0D7-1B12-7816BF085AF2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8C767-ECB1-07C6-ED29-8F9B1BE3F2B0}"/>
              </a:ext>
            </a:extLst>
          </p:cNvPr>
          <p:cNvSpPr>
            <a:spLocks noGrp="1"/>
          </p:cNvSpPr>
          <p:nvPr/>
        </p:nvSpPr>
        <p:spPr>
          <a:xfrm>
            <a:off x="838200" y="39020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B55DB-7421-8D90-3088-8C63342B906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A07FD73-6153-EE83-CA81-BED34A32E076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12</a:t>
            </a:fld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29A67-42DF-32AC-47A0-2A2729D2CE02}"/>
              </a:ext>
            </a:extLst>
          </p:cNvPr>
          <p:cNvSpPr txBox="1"/>
          <p:nvPr/>
        </p:nvSpPr>
        <p:spPr>
          <a:xfrm>
            <a:off x="838199" y="1337441"/>
            <a:ext cx="1051559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 dirty="0">
                <a:latin typeface="Times New Roman"/>
                <a:cs typeface="Times New Roman"/>
              </a:rPr>
              <a:t>Results - Binary Classification Results Table</a:t>
            </a:r>
            <a:endParaRPr lang="en-US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i="1" dirty="0">
                <a:latin typeface="Times New Roman"/>
                <a:cs typeface="Times New Roman"/>
              </a:rPr>
              <a:t>Table 5.3: Binary Classification Results — All Models with Paper C-NN Benchmark 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3EE087-DABE-1C47-549D-39B41E010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78" y="1983772"/>
            <a:ext cx="5570539" cy="39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210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62AA-BA15-DEDB-E027-F541773E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EF5433-ED83-1798-7AC3-8320F7B47878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8FA12-1554-2116-6E8E-83E69A3F245E}"/>
              </a:ext>
            </a:extLst>
          </p:cNvPr>
          <p:cNvSpPr>
            <a:spLocks noGrp="1"/>
          </p:cNvSpPr>
          <p:nvPr/>
        </p:nvSpPr>
        <p:spPr>
          <a:xfrm>
            <a:off x="838200" y="337180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8013D8-FAF7-E2DE-71FC-E14D8F845D0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9818E3A-A412-DADC-120B-DDE4A0FE1092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13</a:t>
            </a:fld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60742-74C4-43A0-CBC4-7128DF70B9BB}"/>
              </a:ext>
            </a:extLst>
          </p:cNvPr>
          <p:cNvSpPr txBox="1"/>
          <p:nvPr/>
        </p:nvSpPr>
        <p:spPr>
          <a:xfrm>
            <a:off x="976286" y="1157514"/>
            <a:ext cx="1037751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Results - Experiment 2: Grouped 3-Class Classification (Normal / DoS / Attack)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DoS attacks separated from general injection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Best K = 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AdaBoost led with highest test accuracy (0.8452) and F1 (0.8843) — but showed a severe overfit gap (CV F1 = 0.6815, gap = 0.252)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Decision Tree and Gradient Boosting followed closely at 0.7733 and 0.7725 test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Naive Bayes weakest at 0.5816 due to Gaussian independence assumption being violated by correlated IEC-104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Gradient Boosting identified as most reliable best-fit model for this task</a:t>
            </a:r>
          </a:p>
          <a:p>
            <a:endParaRPr lang="en-US" sz="1400" dirty="0">
              <a:latin typeface="Times New Roman"/>
              <a:cs typeface="Times New Roman"/>
            </a:endParaRPr>
          </a:p>
          <a:p>
            <a:pPr algn="ctr"/>
            <a:r>
              <a:rPr lang="en-US" sz="1400" b="1" i="1" dirty="0">
                <a:latin typeface="Times New Roman"/>
                <a:cs typeface="Times New Roman"/>
              </a:rPr>
              <a:t>Figure 5.2: Grouped 3-Class Bar Chart — Test Accuracy, F1 Macro, CV F1</a:t>
            </a: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B412F-AE26-C626-6304-029B4DE71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3200081"/>
            <a:ext cx="8432800" cy="320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97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8C11-8BF4-ACB9-2EF2-7BC42325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DD81F0-F14D-CE3E-E99E-7080714CEB01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88152-0AB4-D05C-B3F6-D3B1B646E85F}"/>
              </a:ext>
            </a:extLst>
          </p:cNvPr>
          <p:cNvSpPr>
            <a:spLocks noGrp="1"/>
          </p:cNvSpPr>
          <p:nvPr/>
        </p:nvSpPr>
        <p:spPr>
          <a:xfrm>
            <a:off x="838200" y="32924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D4541-42FD-BDC7-F01C-673B70A3A77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1C94D7D-E4BF-B556-CE94-56E5590E3D13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14</a:t>
            </a:fld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F6153-581C-11B4-3A69-AFA417211827}"/>
              </a:ext>
            </a:extLst>
          </p:cNvPr>
          <p:cNvSpPr txBox="1"/>
          <p:nvPr/>
        </p:nvSpPr>
        <p:spPr>
          <a:xfrm>
            <a:off x="976286" y="1157514"/>
            <a:ext cx="10377514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Results - Experiment 3: Full 12-Class Classification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All 12 original attack labels retained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Best K = 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Random-chance baseline = 1/12 = 8.33%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All nine models significantly exceeded the random-chance baseline, confirming genuine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Random Forest led with 0.5987 test accuracy and CV F1 of 0.6109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Gradient Boosting achieved highest CV F1 of 0.6124 indicating better </a:t>
            </a:r>
            <a:r>
              <a:rPr lang="en-US" sz="1400" dirty="0" err="1">
                <a:latin typeface="Times New Roman"/>
                <a:cs typeface="Times New Roman"/>
              </a:rPr>
              <a:t>generalisation</a:t>
            </a:r>
            <a:r>
              <a:rPr lang="en-US" sz="1400" dirty="0">
                <a:latin typeface="Times New Roman"/>
                <a:cs typeface="Times New Roman"/>
              </a:rPr>
              <a:t> potential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AdaBoost showed underfitting (test accuracy 0.5066, CV F1 0.4347) — boosting mechanism collapses under 12 overlapping class boundaries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Naive Bayes weakest overall at 0.4923 test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/>
              <a:cs typeface="Times New Roman"/>
            </a:endParaRPr>
          </a:p>
          <a:p>
            <a:pPr algn="ctr"/>
            <a:r>
              <a:rPr lang="en-US" sz="1400" b="1" i="1" dirty="0">
                <a:latin typeface="Times New Roman"/>
                <a:cs typeface="Times New Roman"/>
              </a:rPr>
              <a:t>Figure 5.3: Full 12-Class Bar Chart — Test Accuracy, F1 Macro, CV F1 with 8.33% Random-Chance Baseline</a:t>
            </a:r>
            <a:endParaRPr lang="en-US" sz="1400" b="1" dirty="0">
              <a:latin typeface="Times New Roman"/>
              <a:cs typeface="Times New Roman"/>
            </a:endParaRP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D47A1-3A90-56B6-B2E8-9C19EDE77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485" y="3825589"/>
            <a:ext cx="6375031" cy="255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4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4196B-E807-57D1-3ACD-736C951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C8C28C-BAEE-7936-84B1-660EE2661773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EC4F9-B763-41A6-EC2B-64788103A408}"/>
              </a:ext>
            </a:extLst>
          </p:cNvPr>
          <p:cNvSpPr>
            <a:spLocks noGrp="1"/>
          </p:cNvSpPr>
          <p:nvPr/>
        </p:nvSpPr>
        <p:spPr>
          <a:xfrm>
            <a:off x="838200" y="316933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022B8-992B-74FD-C947-DEB5558A13B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9322BEA-4F76-EDE0-7C91-7AAB1210C443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15</a:t>
            </a:fld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0B13E-8A16-4567-6CC5-26D8221C9D44}"/>
              </a:ext>
            </a:extLst>
          </p:cNvPr>
          <p:cNvSpPr txBox="1"/>
          <p:nvPr/>
        </p:nvSpPr>
        <p:spPr>
          <a:xfrm>
            <a:off x="976286" y="1157514"/>
            <a:ext cx="10377514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Results - Model Fit Analysis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Model fit diagnosed by comparing CV F1 Macro against Test F1 Macro across three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Best Fit: gap &lt; 0.05 AND test accuracy ≥ 0.70 — model </a:t>
            </a:r>
            <a:r>
              <a:rPr lang="en-US" sz="1400" dirty="0" err="1">
                <a:latin typeface="Times New Roman"/>
                <a:cs typeface="Times New Roman"/>
              </a:rPr>
              <a:t>generalises</a:t>
            </a:r>
            <a:r>
              <a:rPr lang="en-US" sz="1400" dirty="0">
                <a:latin typeface="Times New Roman"/>
                <a:cs typeface="Times New Roman"/>
              </a:rPr>
              <a:t> well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Overfit: CV F1 much lower than Test F1 (gap &gt; 0.05) — model </a:t>
            </a:r>
            <a:r>
              <a:rPr lang="en-US" sz="1400" dirty="0" err="1">
                <a:latin typeface="Times New Roman"/>
                <a:cs typeface="Times New Roman"/>
              </a:rPr>
              <a:t>memorised</a:t>
            </a:r>
            <a:r>
              <a:rPr lang="en-US" sz="1400" dirty="0">
                <a:latin typeface="Times New Roman"/>
                <a:cs typeface="Times New Roman"/>
              </a:rPr>
              <a:t> training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Underfit: test accuracy &lt; 0.60 AND CV F1 &lt; 0.55 — features insufficient to learn meaningful boundaries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Binary: all nine models are Best Fit — CV F1 equals Test F1 for top four models confirming no data leakage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3-Class: AdaBoost is the sole Overfit case (gap = 0.252) — all others Best 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12-Class: AdaBoost and Naive Bayes show Underfit </a:t>
            </a:r>
            <a:r>
              <a:rPr lang="en-US" sz="1400" dirty="0" err="1">
                <a:latin typeface="Times New Roman"/>
                <a:cs typeface="Times New Roman"/>
              </a:rPr>
              <a:t>behaviour</a:t>
            </a:r>
            <a:endParaRPr lang="en-US" sz="1400" dirty="0">
              <a:latin typeface="Times New Roman"/>
              <a:cs typeface="Times New Roman"/>
            </a:endParaRPr>
          </a:p>
          <a:p>
            <a:r>
              <a:rPr lang="en-US" sz="1400" i="1" dirty="0">
                <a:latin typeface="Times New Roman"/>
                <a:cs typeface="Times New Roman"/>
              </a:rPr>
              <a:t>[ PLACEHOLDER — Figure 5.5: Overfitting Diagnostic Scatter Plot — CV F1 vs Test F1 ]</a:t>
            </a:r>
            <a:endParaRPr lang="en-US" sz="1400" dirty="0">
              <a:latin typeface="Times New Roman"/>
              <a:cs typeface="Times New Roman"/>
            </a:endParaRPr>
          </a:p>
          <a:p>
            <a:r>
              <a:rPr lang="en-US" sz="1400" i="1" dirty="0">
                <a:latin typeface="Times New Roman"/>
                <a:cs typeface="Times New Roman"/>
              </a:rPr>
              <a:t>[ PLACEHOLDER — Figure 5.6: Model Fit Status Heatmap — Best Fit / Overfit / Underfit per Task ]</a:t>
            </a:r>
            <a:endParaRPr lang="en-US" sz="1400" dirty="0">
              <a:latin typeface="Times New Roman"/>
              <a:cs typeface="Times New Roman"/>
            </a:endParaRP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442EB-0617-BCE1-A00C-14BBC040D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77207"/>
            <a:ext cx="4394200" cy="1579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C15D4A-98EC-5CCF-2B2E-2165C5CBDB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9205" y="3434749"/>
            <a:ext cx="6226008" cy="24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99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ADD85-67CC-950B-EF18-D4A59FBB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2D6EE7-26CC-C8E6-E0CE-9E7A5054ABB0}"/>
              </a:ext>
            </a:extLst>
          </p:cNvPr>
          <p:cNvSpPr/>
          <p:nvPr/>
        </p:nvSpPr>
        <p:spPr>
          <a:xfrm>
            <a:off x="432619" y="206533"/>
            <a:ext cx="11444749" cy="62544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5937A-875C-A2C3-4017-B1236934381F}"/>
              </a:ext>
            </a:extLst>
          </p:cNvPr>
          <p:cNvSpPr>
            <a:spLocks noGrp="1"/>
          </p:cNvSpPr>
          <p:nvPr/>
        </p:nvSpPr>
        <p:spPr>
          <a:xfrm>
            <a:off x="838200" y="329245"/>
            <a:ext cx="10515600" cy="763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/>
                <a:ea typeface="+mj-lt"/>
                <a:cs typeface="Times New Roman"/>
              </a:rPr>
              <a:t>V. Implementation Details &amp;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391F4-647F-F88B-398F-AC6AF12379F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AFCDA5F-BBF9-43EA-DEF3-29B165ABF7FE}"/>
              </a:ext>
            </a:extLst>
          </p:cNvPr>
          <p:cNvSpPr txBox="1">
            <a:spLocks/>
          </p:cNvSpPr>
          <p:nvPr/>
        </p:nvSpPr>
        <p:spPr>
          <a:xfrm>
            <a:off x="11759381" y="6448273"/>
            <a:ext cx="40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16</a:t>
            </a:fld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A306A-CF33-12D9-4FDB-F4D5F67C7F8B}"/>
              </a:ext>
            </a:extLst>
          </p:cNvPr>
          <p:cNvSpPr txBox="1"/>
          <p:nvPr/>
        </p:nvSpPr>
        <p:spPr>
          <a:xfrm>
            <a:off x="976286" y="1157514"/>
            <a:ext cx="10377514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Results - Cross-Experiment Comparison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Binary: LR / KNN / SVM / RF tied at perfect F1 of 1.0000 — all 9 models beat C-NN benchmark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3-Class: AdaBoost best at F1 0.8843, Naive Bayes worst at 0.6545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12-Class: Random Forest best at F1 0.5818, Naive Bayes worst at 0.4099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Clear performance degradation pattern observed: ~100% (Binary) → ~77–88% (3-Class) → ~50–60% (12-Class)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cs typeface="Times New Roman"/>
              </a:rPr>
              <a:t>This degradation reflects the ceiling imposed by flow-level features — individual command types cannot be distinguished without packet payload fields like </a:t>
            </a:r>
            <a:r>
              <a:rPr lang="en-US" sz="1400" dirty="0" err="1">
                <a:latin typeface="Times New Roman"/>
                <a:cs typeface="Times New Roman"/>
              </a:rPr>
              <a:t>TypeID</a:t>
            </a:r>
            <a:r>
              <a:rPr lang="en-US" sz="1400" dirty="0">
                <a:latin typeface="Times New Roman"/>
                <a:cs typeface="Times New Roman"/>
              </a:rPr>
              <a:t> and IOA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D76D0A-4E12-04F3-3DDC-4EB6365C9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444" y="2757952"/>
            <a:ext cx="9627112" cy="35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82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F029-819A-6DF1-4679-100E1EFF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ea typeface="Calibri Light"/>
                <a:cs typeface="Times New Roman"/>
              </a:rPr>
              <a:t>VI. Result Discussion</a:t>
            </a:r>
            <a:endParaRPr lang="en-US" sz="36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8F98-362E-4B8E-6728-8BB175CA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352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Binary Classification (Normal vs. Attack)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Perfect Scores: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Logistic Regression, KNN, SVM, and Random Forest achieved perfect accuracy and F1-scores (1.0000).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Outperformance: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All nine classical models surpassed the benchmark C-NN model (0.9738 accuracy).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Insight: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IEC-104 parser features are highly effective for simply distinguishing malicious traffic from normal traffic.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Grouped 3-Class Classification (Normal / DoS / Injection)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Top Performer (with caution):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AdaBoost achieved the highest test accuracy (0.8452) but showed severe overfitting (large gap between CV and Test F1).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Most Reliable Model: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Gradient Boosting was identified as the best-fit model, balancing accuracy and generalization.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Weakest Performer: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Naive Bayes struggled due to its assumption of feature independence, which is violated by correlated network data.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5" name="Picture 4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59E05A18-BC1A-0225-2C26-073C468D900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0" y="6213786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0F7FB5-CCCD-ADCA-DAA6-7C7D204D153B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05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7BA4-2B29-37E7-7E40-C96A7A7E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785" y="2629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ea typeface="Calibri Light"/>
                <a:cs typeface="Times New Roman"/>
              </a:rPr>
              <a:t>VI. Result Discussion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BDBB-952D-55D1-D5AD-B027D22C0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421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Full 12-Class Classification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Overall Challenge: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All models found this task significantly more difficult, with performance dropping to the 50-60% range.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Top Performer: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Random Forest led with 0.5987 test accuracy, showing the strength of ensemble methods for complex tasks.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Model Failures: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AdaBoost and Naive Bayes showed signs of underfitting, unable to learn the complex boundaries between 12 distinct attack types.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Baseline: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All models performed well above the random-chance baseline of 8.33%, confirming genuine learning.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ea typeface="+mn-lt"/>
                <a:cs typeface="Times New Roman"/>
              </a:rPr>
              <a:t>Performance Degradation Trend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dirty="0">
                <a:latin typeface="Times New Roman"/>
                <a:ea typeface="+mn-lt"/>
                <a:cs typeface="Times New Roman"/>
              </a:rPr>
              <a:t>A clear performance ceiling was observed: ~100% (Binary) → ~77–88% (3-Class) → ~50–60% (12-Class).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dirty="0">
                <a:latin typeface="Times New Roman"/>
                <a:ea typeface="+mn-lt"/>
                <a:cs typeface="Times New Roman"/>
              </a:rPr>
              <a:t>Implication</a:t>
            </a:r>
            <a:r>
              <a:rPr lang="en-US" sz="1800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Flow-level statistics alone are insufficient for fine-grained, multi-class attack identification. Distinguishing specific command types likely requires deep packet inspection (e.g., </a:t>
            </a:r>
            <a:r>
              <a:rPr lang="en-US" sz="1800" dirty="0" err="1">
                <a:latin typeface="Times New Roman"/>
                <a:cs typeface="Times New Roman"/>
              </a:rPr>
              <a:t>TypeID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800" dirty="0">
                <a:latin typeface="Times New Roman"/>
                <a:cs typeface="Times New Roman"/>
              </a:rPr>
              <a:t>IOA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fields).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00864C64-5EB7-8DDB-75ED-978E1E8913E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9" y="6213786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BA9743-38D3-D089-59D0-8030AB1B0439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81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ADD9-0F3F-CB33-A508-16AE1FBD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786" y="3837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ea typeface="Calibri Light"/>
                <a:cs typeface="Times New Roman"/>
              </a:rPr>
              <a:t>VII.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86111-8D83-8443-C425-51F18478F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09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800" b="1">
                <a:latin typeface="Times New Roman"/>
                <a:ea typeface="Calibri"/>
                <a:cs typeface="Times New Roman"/>
              </a:rPr>
              <a:t>Summary of Main Findings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lvl="1" algn="just"/>
            <a:r>
              <a:rPr lang="en-US" sz="1800">
                <a:latin typeface="Times New Roman"/>
                <a:ea typeface="Calibri"/>
                <a:cs typeface="Times New Roman"/>
              </a:rPr>
              <a:t>Classical ML models are highly effective for binary FDI detection, even outperforming a more complex C-NN benchmark.</a:t>
            </a:r>
          </a:p>
          <a:p>
            <a:pPr lvl="1" algn="just"/>
            <a:r>
              <a:rPr lang="en-US" sz="1800">
                <a:latin typeface="Times New Roman"/>
                <a:ea typeface="Calibri"/>
                <a:cs typeface="Times New Roman"/>
              </a:rPr>
              <a:t>For multi-class identification, ensemble tree-based methods (Random Forest, Gradient Boosting) are the most robust and reliable.</a:t>
            </a:r>
          </a:p>
          <a:p>
            <a:pPr lvl="1" algn="just"/>
            <a:r>
              <a:rPr lang="en-US" sz="1800" dirty="0">
                <a:latin typeface="Times New Roman"/>
                <a:ea typeface="Calibri"/>
                <a:cs typeface="Times New Roman"/>
              </a:rPr>
              <a:t>The complexity of the task significantly impacts performance; distinguishing 12 attack types is a much harder problem than simple anomaly detection.</a:t>
            </a:r>
          </a:p>
          <a:p>
            <a:pPr lvl="1" algn="just"/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b="1">
                <a:latin typeface="Times New Roman"/>
                <a:ea typeface="Calibri"/>
                <a:cs typeface="Times New Roman"/>
              </a:rPr>
              <a:t>Key Contributions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lvl="1" algn="just"/>
            <a:r>
              <a:rPr lang="en-US" sz="1800" dirty="0">
                <a:latin typeface="Times New Roman"/>
                <a:ea typeface="Calibri"/>
                <a:cs typeface="Times New Roman"/>
              </a:rPr>
              <a:t>This study provides a comprehensive benchmark of nine classical ML models against a state-of-the-art C-NN on the same IEC-104 dataset.</a:t>
            </a:r>
          </a:p>
          <a:p>
            <a:pPr lvl="1" algn="just"/>
            <a:r>
              <a:rPr lang="en-US" sz="1800">
                <a:latin typeface="Times New Roman"/>
                <a:ea typeface="Calibri"/>
                <a:cs typeface="Times New Roman"/>
              </a:rPr>
              <a:t>It quantifies the performance gap between binary, grouped, and fine-grained multi-class classification tasks.</a:t>
            </a:r>
          </a:p>
          <a:p>
            <a:pPr lvl="1" algn="just"/>
            <a:r>
              <a:rPr lang="en-US" sz="1800" dirty="0">
                <a:latin typeface="Times New Roman"/>
                <a:ea typeface="Calibri"/>
                <a:cs typeface="Times New Roman"/>
              </a:rPr>
              <a:t>It highlights that for operational deployment, the choice of model should depend on the required granularity of detection (simple alert vs. specific attack labeling).</a:t>
            </a:r>
          </a:p>
          <a:p>
            <a:pPr algn="just"/>
            <a:endParaRPr lang="en-US" sz="18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4E202AAE-357C-378C-8BF9-865D6F350B1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2" y="6220941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C2F51A-B746-4184-64B7-AECB64CAC68B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1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562C-29CA-A414-944A-CFD4C734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ea typeface="Calibri Light"/>
                <a:cs typeface="Times New Roman"/>
              </a:rPr>
              <a:t> VII. Future Scope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A9EE-E489-3D68-E665-02F702C9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4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800" b="1">
                <a:latin typeface="Times New Roman"/>
                <a:ea typeface="+mn-lt"/>
                <a:cs typeface="Times New Roman"/>
              </a:rPr>
              <a:t>Improvements to Current Work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  1. Incorporate Payload Features:</a:t>
            </a:r>
            <a:r>
              <a:rPr lang="en-US" sz="1800">
                <a:latin typeface="Times New Roman"/>
                <a:ea typeface="+mn-lt"/>
                <a:cs typeface="Times New Roman"/>
              </a:rPr>
              <a:t> Extend feature extraction to include deep packet inspection fields like </a:t>
            </a:r>
            <a:r>
              <a:rPr lang="en-US" sz="1800">
                <a:latin typeface="Times New Roman"/>
                <a:cs typeface="Times New Roman"/>
              </a:rPr>
              <a:t>TypeID</a:t>
            </a:r>
            <a:r>
              <a:rPr lang="en-US" sz="1800">
                <a:latin typeface="Times New Roman"/>
                <a:ea typeface="+mn-lt"/>
                <a:cs typeface="Times New Roman"/>
              </a:rPr>
              <a:t> and </a:t>
            </a:r>
            <a:r>
              <a:rPr lang="en-US" sz="1800">
                <a:latin typeface="Times New Roman"/>
                <a:cs typeface="Times New Roman"/>
              </a:rPr>
              <a:t>IOA</a:t>
            </a:r>
            <a:r>
              <a:rPr lang="en-US" sz="1800">
                <a:latin typeface="Times New Roman"/>
                <a:ea typeface="+mn-lt"/>
                <a:cs typeface="Times New Roman"/>
              </a:rPr>
              <a:t> to improve multi-class accuracy.</a:t>
            </a:r>
            <a:endParaRPr lang="en-US" sz="1800"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  2. Advanced Feature Engineering:</a:t>
            </a:r>
            <a:r>
              <a:rPr lang="en-US" sz="1800">
                <a:latin typeface="Times New Roman"/>
                <a:ea typeface="+mn-lt"/>
                <a:cs typeface="Times New Roman"/>
              </a:rPr>
              <a:t> Explore automated feature engineering or selection techniques to reduce noise and improve model generalization.</a:t>
            </a:r>
            <a:endParaRPr lang="en-US" sz="180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18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1800" b="1">
                <a:latin typeface="Times New Roman"/>
                <a:ea typeface="+mn-lt"/>
                <a:cs typeface="Times New Roman"/>
              </a:rPr>
              <a:t>Extensions and Future Research Directions</a:t>
            </a:r>
            <a:endParaRPr lang="en-US" sz="1800"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  1. Real-Time Detection:</a:t>
            </a:r>
            <a:r>
              <a:rPr lang="en-US" sz="1800">
                <a:latin typeface="Times New Roman"/>
                <a:ea typeface="+mn-lt"/>
                <a:cs typeface="Times New Roman"/>
              </a:rPr>
              <a:t> Implement and test the best-performing models (e.g., Random Forest) in a real-time streaming context (e.g., with Apache Kafka or similar).</a:t>
            </a:r>
          </a:p>
          <a:p>
            <a:pPr marL="0" indent="0" algn="just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  2. Explainable AI (XAI):</a:t>
            </a:r>
            <a:r>
              <a:rPr lang="en-US" sz="1800">
                <a:latin typeface="Times New Roman"/>
                <a:ea typeface="+mn-lt"/>
                <a:cs typeface="Times New Roman"/>
              </a:rPr>
              <a:t> Use SHAP or LIME to interpret the decisions of tree-based models, addressing the "black box" concern for industrial deployment.</a:t>
            </a:r>
            <a:endParaRPr lang="en-US" sz="1800"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  3. Generative &amp; Deep Learning:</a:t>
            </a:r>
            <a:r>
              <a:rPr lang="en-US" sz="1800">
                <a:latin typeface="Times New Roman"/>
                <a:ea typeface="+mn-lt"/>
                <a:cs typeface="Times New Roman"/>
              </a:rPr>
              <a:t> Investigate hybrid models that combine the efficiency of classical methods with the pattern recognition power of deep learning for complex attacks.</a:t>
            </a:r>
            <a:endParaRPr lang="en-US" sz="180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1800">
              <a:latin typeface="Times New Roman"/>
              <a:ea typeface="Calibri" panose="020F0502020204030204"/>
              <a:cs typeface="Times New Roman"/>
            </a:endParaRPr>
          </a:p>
        </p:txBody>
      </p:sp>
      <p:pic>
        <p:nvPicPr>
          <p:cNvPr id="5" name="Picture 4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3DBCF351-AEBC-963A-06C0-FFAFAB1655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1" y="6176710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45EA4D-C286-94D1-E1E5-3784CF83E055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9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8A1C-0247-F641-549A-E431542E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371" y="2350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ea typeface="Calibri Light"/>
                <a:cs typeface="Times New Roman"/>
              </a:rPr>
              <a:t>VII. Future Scope and Applications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EB63-B050-8B42-61B6-D35AF560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607"/>
            <a:ext cx="10515600" cy="426770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dirty="0">
                <a:latin typeface="Times New Roman"/>
                <a:ea typeface="+mn-lt"/>
                <a:cs typeface="Times New Roman"/>
              </a:rPr>
              <a:t>SDG 7 – Affordable and Clean Energy - Enhances reliable and efficient smart grid energy distribution through AI-based optimization.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ea typeface="+mn-lt"/>
                <a:cs typeface="Times New Roman"/>
              </a:rPr>
              <a:t>SDG 9 – Industry, Innovation and Infrastructure - Strengthens resilient digital infrastructure using AI-driven cybersecurity for smart grids.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ea typeface="+mn-lt"/>
                <a:cs typeface="Times New Roman"/>
              </a:rPr>
              <a:t>SDG 11 – Sustainable Cities and Communities - Supports secure and reliable power systems for smart city infrastructure.</a:t>
            </a:r>
          </a:p>
          <a:p>
            <a:pPr algn="just"/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ea typeface="+mn-lt"/>
                <a:cs typeface="Times New Roman"/>
              </a:rPr>
              <a:t>SDG 12 – Responsible Consumption and Production - Promotes efficient energy utilization by optimizing power flow and reducing system losses.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ea typeface="+mn-lt"/>
                <a:cs typeface="Times New Roman"/>
              </a:rPr>
              <a:t>SDG 16 – Peace, Justice and Strong Institutions - Enhances the security and resilience of critical national infrastructure by detecting and mitigating cyber attacks in smart grid systems.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</p:txBody>
      </p:sp>
      <p:pic>
        <p:nvPicPr>
          <p:cNvPr id="5" name="Picture 4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8E520075-4213-28E7-4E23-11021F9E097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1" y="6222892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BBFA4B-6F03-2546-A689-B76AC936C65F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96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8A05D-3609-01C1-D287-E53F00DD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90AF21-7569-A563-7FFC-DB60F68ADE15}"/>
              </a:ext>
            </a:extLst>
          </p:cNvPr>
          <p:cNvSpPr/>
          <p:nvPr/>
        </p:nvSpPr>
        <p:spPr>
          <a:xfrm>
            <a:off x="338852" y="213877"/>
            <a:ext cx="11552072" cy="641527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8F137-4176-92A1-7B0F-18F24BF86124}"/>
              </a:ext>
            </a:extLst>
          </p:cNvPr>
          <p:cNvSpPr>
            <a:spLocks noGrp="1"/>
          </p:cNvSpPr>
          <p:nvPr/>
        </p:nvSpPr>
        <p:spPr>
          <a:xfrm>
            <a:off x="857088" y="196466"/>
            <a:ext cx="10515600" cy="1070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References</a:t>
            </a:r>
            <a:endParaRPr lang="en-US" sz="3600" b="1" dirty="0">
              <a:latin typeface="Times New Roman"/>
              <a:ea typeface="+mj-lt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BD286-BA25-AAEE-EBC2-FF46673525A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4C43EBA-713B-E1B1-4C46-CAC4F13C6744}"/>
              </a:ext>
            </a:extLst>
          </p:cNvPr>
          <p:cNvSpPr txBox="1">
            <a:spLocks/>
          </p:cNvSpPr>
          <p:nvPr/>
        </p:nvSpPr>
        <p:spPr>
          <a:xfrm>
            <a:off x="11759184" y="6448273"/>
            <a:ext cx="403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22</a:t>
            </a:fld>
            <a:endParaRPr lang="en-IN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4A602-2285-A086-F3C1-773B374070FA}"/>
              </a:ext>
            </a:extLst>
          </p:cNvPr>
          <p:cNvSpPr txBox="1"/>
          <p:nvPr/>
        </p:nvSpPr>
        <p:spPr>
          <a:xfrm>
            <a:off x="857088" y="1048926"/>
            <a:ext cx="10515600" cy="5262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Zheng Y., Liu X., and Wang H. — "Detection to False Data for Smart Grid," Cybersecurity, vol. 8, no. 1, 2025. DOI: 10.1186/s42400-024-00326-5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Zhang Y., Wang J., and Chen B. — "Detecting False Data Injection Attacks in Smart Grids: A Semi-Supervised Deep Learning Approach," IEEE Transactions on Smart Grid, vol. 12, no. 1, pp. 623–634, Jan. 2021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Zhong X., Li G., and Zhang C. — "False data injection in power smart grid and identification of the most vulnerable bus; a case study 14 IEEE bus network," Energy Reports, vol. 7, pp. 8476–8484, Nov. 2021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Mukherjee D., Chakraborty S., and Ghosh S. — "Deep learning-based multilabel classification for locational detection of false data injection attack in smart grids," Electrical Engineering, vol. 104, no. 1, pp. 259–282, May 2021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Wang Y. et al. — "Wide and Recurrent Neural Networks for Detection of False Data Injection in Smart Grids," Wireless Algorithms, Systems, and Applications, pp. 335–345, 2019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He Z. et al. — "Detection of false data injection attacks leading to line congestions using Neural networks," Sustainable Cities and Society, vol. 82, p. 103861, Jul. 2022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Hu P. et al. — "Detection of False Data Injection Attacks in Smart Grids Based on Expectation Maximization," Sensors, vol. 23, no. 3, p. 1683, Feb. 2023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Pan H. et al. — "Multi-data classification detection in smart grid under false data injection attack based on Inception network," IET Renewable Power Generation, vol. 18, no. 14, pp. 2430–2439, Aug. 2024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Boyaci O. et al. — "Joint Detection and Localization of Stealth False Data Injection Attacks in Smart Grids Using Graph Neural Networks," IEEE Transactions on Smart Grid, vol. 13, no. 1, pp. 807–819, Jan. 2022 </a:t>
            </a:r>
          </a:p>
          <a:p>
            <a:pPr marL="342900" indent="-342900">
              <a:buAutoNum type="arabicPeriod"/>
            </a:pPr>
            <a:r>
              <a:rPr lang="en-US" sz="1400" dirty="0" err="1">
                <a:latin typeface="Times New Roman"/>
                <a:cs typeface="Times New Roman"/>
              </a:rPr>
              <a:t>Haghshenas</a:t>
            </a:r>
            <a:r>
              <a:rPr lang="en-US" sz="1400" dirty="0">
                <a:latin typeface="Times New Roman"/>
                <a:cs typeface="Times New Roman"/>
              </a:rPr>
              <a:t> S.H. et al. — "A Temporal Graph Neural Network for Cyber Attack Detection and Localization in Smart Grids," IEEE ISGT Conference, pp. 1–5, Jan. 2023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Yin X. et al. — "</a:t>
            </a:r>
            <a:r>
              <a:rPr lang="en-US" sz="1400" dirty="0" err="1">
                <a:latin typeface="Times New Roman"/>
                <a:cs typeface="Times New Roman"/>
              </a:rPr>
              <a:t>PowerFDNet</a:t>
            </a:r>
            <a:r>
              <a:rPr lang="en-US" sz="1400" dirty="0">
                <a:latin typeface="Times New Roman"/>
                <a:cs typeface="Times New Roman"/>
              </a:rPr>
              <a:t>: Deep Learning-Based Stealthy False Data Injection Attack Detection for AC-Model Transmission Systems," IEEE Open Journal of the Computer Society, vol. 3, pp. 149–161, 2022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sz="1400" dirty="0">
                <a:latin typeface="Times New Roman"/>
                <a:cs typeface="Times New Roman"/>
              </a:rPr>
              <a:t>Tian J. et al. — "LESSON: Multi-Label Adversarial False Data Injection Attack for Deep Learning Locational Detection," IEEE Transactions on Dependable and Secure Computing, vol. 21, no. 5, pp. 4418–4432, Sep. 2024 </a:t>
            </a:r>
          </a:p>
        </p:txBody>
      </p:sp>
    </p:spTree>
    <p:extLst>
      <p:ext uri="{BB962C8B-B14F-4D97-AF65-F5344CB8AC3E}">
        <p14:creationId xmlns:p14="http://schemas.microsoft.com/office/powerpoint/2010/main" val="34061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4D3C-AF4C-5B49-7367-38CAFCA7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B760A3-8DED-BA81-5CF3-1E043FFD1EBA}"/>
              </a:ext>
            </a:extLst>
          </p:cNvPr>
          <p:cNvSpPr/>
          <p:nvPr/>
        </p:nvSpPr>
        <p:spPr>
          <a:xfrm>
            <a:off x="338852" y="213877"/>
            <a:ext cx="11552072" cy="641527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C3027-E2CC-7865-4C1A-697291F962BC}"/>
              </a:ext>
            </a:extLst>
          </p:cNvPr>
          <p:cNvSpPr>
            <a:spLocks noGrp="1"/>
          </p:cNvSpPr>
          <p:nvPr/>
        </p:nvSpPr>
        <p:spPr>
          <a:xfrm>
            <a:off x="857088" y="96192"/>
            <a:ext cx="10515600" cy="1070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  <a:ea typeface="+mj-lt"/>
                <a:cs typeface="+mj-lt"/>
              </a:rPr>
              <a:t>References</a:t>
            </a:r>
            <a:endParaRPr lang="en-US" sz="3600" b="1" dirty="0">
              <a:latin typeface="Times New Roman"/>
              <a:ea typeface="+mj-lt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78BD0-E03A-77F7-8C45-4DB16A2BA54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6DEA025-99DB-EC74-45CD-30F7C6F89D64}"/>
              </a:ext>
            </a:extLst>
          </p:cNvPr>
          <p:cNvSpPr txBox="1">
            <a:spLocks/>
          </p:cNvSpPr>
          <p:nvPr/>
        </p:nvSpPr>
        <p:spPr>
          <a:xfrm>
            <a:off x="11759184" y="6448273"/>
            <a:ext cx="403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23</a:t>
            </a:fld>
            <a:endParaRPr lang="en-IN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00061F-E973-D9AE-EE60-C05567ADBCF1}"/>
              </a:ext>
            </a:extLst>
          </p:cNvPr>
          <p:cNvSpPr txBox="1"/>
          <p:nvPr/>
        </p:nvSpPr>
        <p:spPr>
          <a:xfrm>
            <a:off x="857088" y="1048926"/>
            <a:ext cx="1051560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 startAt="13"/>
            </a:pPr>
            <a:r>
              <a:rPr lang="en-US" sz="1400">
                <a:latin typeface="Times New Roman"/>
                <a:cs typeface="Times New Roman"/>
              </a:rPr>
              <a:t>Shrestha R. et al. — "Detection and Localization of the FDI Attacks in the Presence of DoS Attacks in Smart Grid," Smart Cities, vol. 8, no. 5, p. 144, Sep. 2025 </a:t>
            </a:r>
            <a:endParaRPr lang="en-US"/>
          </a:p>
          <a:p>
            <a:pPr marL="342900" indent="-342900">
              <a:buFont typeface="+mj-lt"/>
              <a:buAutoNum type="arabicPeriod" startAt="13"/>
            </a:pPr>
            <a:r>
              <a:rPr lang="en-US" sz="1400">
                <a:latin typeface="Times New Roman"/>
                <a:cs typeface="Times New Roman"/>
              </a:rPr>
              <a:t>Liu Z. et al. — "False Data Injection Attacks on Data-Driven Algorithms in Smart Grids Utilizing Distributed Power Supplies," Engineering, vol. 51, pp. 62–74, Aug. 2025 </a:t>
            </a:r>
          </a:p>
          <a:p>
            <a:pPr marL="342900" indent="-342900">
              <a:buFont typeface="+mj-lt"/>
              <a:buAutoNum type="arabicPeriod" startAt="13"/>
            </a:pPr>
            <a:r>
              <a:rPr lang="en-US" sz="1400">
                <a:latin typeface="Times New Roman"/>
                <a:cs typeface="Times New Roman"/>
              </a:rPr>
              <a:t>Ahmad H. et al. — "AI-based approach for detecting FDI attacks in load frequency control for centralized multi-area power systems," Computers and Electrical Engineering, vol. 123, p. 110060, Apr. 2025</a:t>
            </a:r>
          </a:p>
        </p:txBody>
      </p:sp>
    </p:spTree>
    <p:extLst>
      <p:ext uri="{BB962C8B-B14F-4D97-AF65-F5344CB8AC3E}">
        <p14:creationId xmlns:p14="http://schemas.microsoft.com/office/powerpoint/2010/main" val="416005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3842-0642-51CF-3BCE-9A3BD688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6C17A-6BFE-DDB2-E634-23F3D25F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292" y="3076033"/>
            <a:ext cx="3251192" cy="70593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/>
                <a:ea typeface="Calibri"/>
                <a:cs typeface="Calibri"/>
              </a:rPr>
              <a:t>THANK YOU</a:t>
            </a:r>
          </a:p>
          <a:p>
            <a:pPr marL="0" indent="0">
              <a:buNone/>
            </a:pPr>
            <a:endParaRPr lang="en-US" sz="18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Picture 4" descr="A logo with a red circle and text&#10;&#10;AI-generated content may be incorrect.">
            <a:extLst>
              <a:ext uri="{FF2B5EF4-FFF2-40B4-BE49-F238E27FC236}">
                <a16:creationId xmlns:a16="http://schemas.microsoft.com/office/drawing/2014/main" id="{6E992DE8-171C-4425-FC8B-BD297197338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" y="6245983"/>
            <a:ext cx="585858" cy="5858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EB0C8A-12C3-CECE-1081-2313137A752C}"/>
              </a:ext>
            </a:extLst>
          </p:cNvPr>
          <p:cNvSpPr/>
          <p:nvPr/>
        </p:nvSpPr>
        <p:spPr>
          <a:xfrm>
            <a:off x="392514" y="407059"/>
            <a:ext cx="11444749" cy="610404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4F9BEA6-EDA8-64EA-1788-9350AE64D1DB}"/>
              </a:ext>
            </a:extLst>
          </p:cNvPr>
          <p:cNvSpPr txBox="1">
            <a:spLocks/>
          </p:cNvSpPr>
          <p:nvPr/>
        </p:nvSpPr>
        <p:spPr>
          <a:xfrm>
            <a:off x="11686032" y="6448273"/>
            <a:ext cx="477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5F0D1-546A-48F2-829D-71E5BA9AAFAC}" type="slidenum">
              <a:rPr lang="en-IN" sz="1600" b="1" smtClean="0"/>
              <a:pPr/>
              <a:t>24</a:t>
            </a:fld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98775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CBE32B36BB6645AC4DA7E04C955C59" ma:contentTypeVersion="5" ma:contentTypeDescription="Create a new document." ma:contentTypeScope="" ma:versionID="c7254e280efc6598415c637b5506747a">
  <xsd:schema xmlns:xsd="http://www.w3.org/2001/XMLSchema" xmlns:xs="http://www.w3.org/2001/XMLSchema" xmlns:p="http://schemas.microsoft.com/office/2006/metadata/properties" xmlns:ns3="41b8e464-7621-4a77-800a-18a9a72a8bf9" targetNamespace="http://schemas.microsoft.com/office/2006/metadata/properties" ma:root="true" ma:fieldsID="80c47c8c85d62791e4d9124955aa067d" ns3:_="">
    <xsd:import namespace="41b8e464-7621-4a77-800a-18a9a72a8b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b8e464-7621-4a77-800a-18a9a72a8b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1b8e464-7621-4a77-800a-18a9a72a8bf9" xsi:nil="true"/>
  </documentManagement>
</p:properties>
</file>

<file path=customXml/itemProps1.xml><?xml version="1.0" encoding="utf-8"?>
<ds:datastoreItem xmlns:ds="http://schemas.openxmlformats.org/officeDocument/2006/customXml" ds:itemID="{82E0ABD7-6DE3-4A49-9D12-7594B99FC4DD}">
  <ds:schemaRefs>
    <ds:schemaRef ds:uri="41b8e464-7621-4a77-800a-18a9a72a8b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975FA4-0040-45EE-ACA2-AB694F95F1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EDA4D-7545-490D-AABB-26529E2951D8}">
  <ds:schemaRefs>
    <ds:schemaRef ds:uri="41b8e464-7621-4a77-800a-18a9a72a8b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3211</Words>
  <Application>Microsoft Office PowerPoint</Application>
  <PresentationFormat>Widescreen</PresentationFormat>
  <Paragraphs>259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VI. Result Discussion</vt:lpstr>
      <vt:lpstr>VI. Result Discussion</vt:lpstr>
      <vt:lpstr>VII. Conclusion</vt:lpstr>
      <vt:lpstr> VII. Future Scope and Applications</vt:lpstr>
      <vt:lpstr>VII. Future Scope and Applications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Vishnu Y</dc:creator>
  <cp:lastModifiedBy>Thoshan Raja</cp:lastModifiedBy>
  <cp:revision>329</cp:revision>
  <dcterms:created xsi:type="dcterms:W3CDTF">2025-07-04T05:57:42Z</dcterms:created>
  <dcterms:modified xsi:type="dcterms:W3CDTF">2026-03-14T18:48:22Z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0x01010011CBE32B36BB6645AC4DA7E04C955C59</vt:lpwstr>
  </property>
</Properties>
</file>